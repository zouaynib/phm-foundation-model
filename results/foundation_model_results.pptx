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1097280" cy="6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 Multi-Domain Foundation Model</a:t>
            </a:r>
            <a:br/>
            <a:r>
              <a:t>for Prognostics &amp; Health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0E0EF"/>
                </a:solidFill>
                <a:latin typeface="Calibri"/>
              </a:defRPr>
            </a:pPr>
            <a:r>
              <a:t>Pre-trained across 4 PHM datasets  ·  Evaluated on classification &amp; RUL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A0B0"/>
                </a:solidFill>
                <a:latin typeface="Calibri"/>
              </a:defRPr>
            </a:pPr>
            <a:r>
              <a:t>Zaynab Raounak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Why a Foundation Model for PHM?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1051560"/>
          </a:xfrm>
          <a:prstGeom prst="round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7830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Calibri"/>
              </a:defRPr>
            </a:pPr>
            <a:r>
              <a:t>PHM models are typically trained from scratch per dataset — limited by small, domain-specific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10515600" cy="1051560"/>
          </a:xfrm>
          <a:prstGeom prst="round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10896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Calibri"/>
              </a:defRPr>
            </a:pPr>
            <a:r>
              <a:t>Pre-train a single transformer backbone across multiple PHM domains, then fine-tune per task.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10515600" cy="1051560"/>
          </a:xfrm>
          <a:prstGeom prst="round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44348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Calibri"/>
              </a:defRPr>
            </a:pPr>
            <a:r>
              <a:t>Leverage cross-domain patterns (vibration signatures, degradation trends) to improve accuracy and data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Training Datasets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23160" cy="3474720"/>
          </a:xfrm>
          <a:prstGeom prst="round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CWRU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Calibri"/>
              </a:defRPr>
            </a:pPr>
            <a:r>
              <a:t>Bearing Fault Diagnosis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004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1 ch · 12 kHz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0233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Calibri"/>
              </a:defRPr>
            </a:pPr>
            <a:r>
              <a:t>Classification (4 classes)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828800"/>
            <a:ext cx="2423160" cy="3474720"/>
          </a:xfrm>
          <a:prstGeom prst="round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0116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PRONOSTIA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5603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Calibri"/>
              </a:defRPr>
            </a:pPr>
            <a:r>
              <a:t>Bearing Degradation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004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2 ch · 25.6 kHz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0233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Calibri"/>
              </a:defRPr>
            </a:pPr>
            <a:r>
              <a:t>RUL Regression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828800"/>
            <a:ext cx="2423160" cy="3474720"/>
          </a:xfrm>
          <a:prstGeom prst="round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0116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CMAPSS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5603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Calibri"/>
              </a:defRPr>
            </a:pPr>
            <a:r>
              <a:t>Turbofan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2004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14 ch · cycle-based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0233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Calibri"/>
              </a:defRPr>
            </a:pPr>
            <a:r>
              <a:t>Classification + RUL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1828800"/>
            <a:ext cx="2423160" cy="3474720"/>
          </a:xfrm>
          <a:prstGeom prst="round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20116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MFPT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5603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Calibri"/>
              </a:defRPr>
            </a:pPr>
            <a:r>
              <a:t>Bearing Fault Diagnosis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2004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1 ch · 97.6 kHz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0233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Calibri"/>
              </a:defRPr>
            </a:pPr>
            <a:r>
              <a:t>Classification (3 classes)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Model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94560"/>
            <a:ext cx="1554480" cy="2011680"/>
          </a:xfrm>
          <a:prstGeom prst="round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377440"/>
            <a:ext cx="1335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4D8"/>
                </a:solidFill>
                <a:latin typeface="Calibri"/>
              </a:defRPr>
            </a:pPr>
            <a:r>
              <a:t>Input</a:t>
            </a:r>
            <a:br/>
            <a:r>
              <a:t>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108960"/>
            <a:ext cx="1335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Multi-channel</a:t>
            </a:r>
            <a:br/>
            <a:r>
              <a:t>time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1408" y="292608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4D8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7712" y="2194560"/>
            <a:ext cx="1554480" cy="2011680"/>
          </a:xfrm>
          <a:prstGeom prst="round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2377440"/>
            <a:ext cx="1335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4D8"/>
                </a:solidFill>
                <a:latin typeface="Calibri"/>
              </a:defRPr>
            </a:pPr>
            <a:r>
              <a:t>Patch</a:t>
            </a:r>
            <a:br/>
            <a:r>
              <a:t>Embedding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108960"/>
            <a:ext cx="1335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64-sample patches</a:t>
            </a:r>
            <a:br/>
            <a:r>
              <a:t>linear projection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92608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4D8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86784" y="2194560"/>
            <a:ext cx="1554480" cy="2011680"/>
          </a:xfrm>
          <a:prstGeom prst="round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6512" y="2377440"/>
            <a:ext cx="1335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4D8"/>
                </a:solidFill>
                <a:latin typeface="Calibri"/>
              </a:defRPr>
            </a:pPr>
            <a:r>
              <a:t>Transformer</a:t>
            </a:r>
            <a:br/>
            <a:r>
              <a:t>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108960"/>
            <a:ext cx="1335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4 layers, 8 heads</a:t>
            </a:r>
            <a:br/>
            <a:r>
              <a:t>d_model = 128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9552" y="292608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4D8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05856" y="2194560"/>
            <a:ext cx="1554480" cy="2011680"/>
          </a:xfrm>
          <a:prstGeom prst="round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15584" y="2377440"/>
            <a:ext cx="1335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4D8"/>
                </a:solidFill>
                <a:latin typeface="Calibri"/>
              </a:defRPr>
            </a:pPr>
            <a:r>
              <a:t>Domain</a:t>
            </a:r>
            <a:br/>
            <a:r>
              <a:t>Embedding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5584" y="3108960"/>
            <a:ext cx="1335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Frequency +</a:t>
            </a:r>
            <a:br/>
            <a:r>
              <a:t>Dataset 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624" y="292608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4D8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24928" y="2194560"/>
            <a:ext cx="1554480" cy="2011680"/>
          </a:xfrm>
          <a:prstGeom prst="round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34656" y="2377440"/>
            <a:ext cx="1335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4D8"/>
                </a:solidFill>
                <a:latin typeface="Calibri"/>
              </a:defRPr>
            </a:pPr>
            <a:r>
              <a:t>Projector</a:t>
            </a:r>
            <a:br/>
            <a:r>
              <a:t>MLP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4656" y="3108960"/>
            <a:ext cx="1335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Shared latent</a:t>
            </a:r>
            <a:br/>
            <a:r>
              <a:t>representation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292608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4D8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2194560"/>
            <a:ext cx="1554480" cy="2011680"/>
          </a:xfrm>
          <a:prstGeom prst="round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2377440"/>
            <a:ext cx="1335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4D8"/>
                </a:solidFill>
                <a:latin typeface="Calibri"/>
              </a:defRPr>
            </a:pPr>
            <a:r>
              <a:t>Task</a:t>
            </a:r>
            <a:br/>
            <a:r>
              <a:t>Heads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3108960"/>
            <a:ext cx="1335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Per-dataset</a:t>
            </a:r>
            <a:br/>
            <a:r>
              <a:t>cls / rul heads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Key:  Channel-independent processing  |  Balanced domain sampling  |  Multi-task loss (CE + MSE)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Classification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572000" cy="1828800"/>
          </a:xfrm>
          <a:prstGeom prst="round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Average Classification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6D6A0"/>
                </a:solidFill>
                <a:latin typeface="Calibri"/>
              </a:defRPr>
            </a:pPr>
            <a:r>
              <a:t>98.12%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+2.6% over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645920"/>
            <a:ext cx="5303520" cy="1828800"/>
          </a:xfrm>
          <a:prstGeom prst="round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4D8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828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4D8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828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4D8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1828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4D8"/>
                </a:solidFill>
                <a:latin typeface="Calibri"/>
              </a:defRPr>
            </a:pPr>
            <a:r>
              <a:t>Gain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2402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CWRU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2402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8"/>
                </a:solidFill>
                <a:latin typeface="Calibri"/>
              </a:defRPr>
            </a:pPr>
            <a:r>
              <a:t>92.75%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2402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97.95%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22402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Calibri"/>
              </a:defRPr>
            </a:pPr>
            <a:r>
              <a:t>+5.20%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606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MFPT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606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8"/>
                </a:solidFill>
                <a:latin typeface="Calibri"/>
              </a:defRPr>
            </a:pPr>
            <a:r>
              <a:t>98.29%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606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98.29%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2606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0E0E8"/>
                </a:solidFill>
                <a:latin typeface="Calibri"/>
              </a:defRPr>
            </a:pPr>
            <a:r>
              <a:t>  0.00%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971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CMAPSS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971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971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2971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0E0E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840480"/>
            <a:ext cx="4572000" cy="2011680"/>
          </a:xfrm>
          <a:prstGeom prst="round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9776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F1 Score (Macro)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Calibri"/>
              </a:defRPr>
            </a:pPr>
            <a:r>
              <a:t>CWRU:   93.96%  →  98.27%   (+4.31%)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846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Calibri"/>
              </a:defRPr>
            </a:pPr>
            <a:r>
              <a:t>MFPT:   97.53%  →  97.53%   (  0.00%)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3840480"/>
            <a:ext cx="5303520" cy="2011680"/>
          </a:xfrm>
          <a:prstGeom prst="round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97763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48056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Calibri"/>
              </a:defRPr>
            </a:pPr>
            <a:r>
              <a:t>The foundation model achieves near-perfect classification on CWRU (+5.2% over CNN baseline) while maintaining parity on MFPT. Cross-domain pretraining provides the biggest lift on CWRU, where the model benefits from vibration patterns learned across all four datasets.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Cross-Domain Generalization (Leave-One-Out)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Model pre-trained on 3 datasets, then fine-tuned and tested on the held-out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212080" cy="3200400"/>
          </a:xfrm>
          <a:prstGeom prst="round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CWRU</a:t>
            </a:r>
            <a:br/>
            <a:r>
              <a:t>held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6D6A0"/>
                </a:solidFill>
                <a:latin typeface="Calibri"/>
              </a:defRPr>
            </a:pPr>
            <a:r>
              <a:t>96.38%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F1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291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6D6A0"/>
                </a:solidFill>
                <a:latin typeface="Calibri"/>
              </a:defRPr>
            </a:pPr>
            <a:r>
              <a:t>96.91%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Trained on: PRONOSTIA + CMAPSS + MFPT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03120"/>
            <a:ext cx="5212080" cy="3200400"/>
          </a:xfrm>
          <a:prstGeom prst="round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MFPT</a:t>
            </a:r>
            <a:br/>
            <a:r>
              <a:t>held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91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6D6A0"/>
                </a:solidFill>
                <a:latin typeface="Calibri"/>
              </a:defRPr>
            </a:pPr>
            <a:r>
              <a:t>97.44%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F1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291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6D6A0"/>
                </a:solidFill>
                <a:latin typeface="Calibri"/>
              </a:defRPr>
            </a:pPr>
            <a:r>
              <a:t>96.34%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Trained on: CWRU + PRONOSTIA + CMAPSS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Calibri"/>
              </a:defRPr>
            </a:pPr>
            <a:r>
              <a:t>The model generalises to unseen domains with minimal accuracy loss — demonstrating that the shared transformer backbone captures transferable vibration features across different machinery types.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Low-Data Regime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Baseline CNN accuracy with reduced training data (CWRU)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10%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286000"/>
            <a:ext cx="4937926" cy="6400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606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42.4%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20%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291840"/>
            <a:ext cx="4815729" cy="6400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7409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41.4%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50%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97680"/>
            <a:ext cx="5624557" cy="640080"/>
          </a:xfrm>
          <a:prstGeom prst="round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6237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48.3%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100%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5303520"/>
            <a:ext cx="5655979" cy="64008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67659" y="5394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48.6%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Calibri"/>
              </a:defRPr>
            </a:pPr>
            <a:r>
              <a:t>Even at 10% training data, the baseline achieves 42.4% — a foundation model pre-trained on related domains can significantly boost this via transfer learning, reducing the labelled data requirement.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4114800"/>
          </a:xfrm>
          <a:prstGeom prst="round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  <a:latin typeface="Calibri"/>
              </a:defRPr>
            </a:pPr>
            <a:r>
              <a:t>Achievements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Calibri"/>
              </a:defRPr>
            </a:pPr>
            <a:r>
              <a:t>✓  98.12% avg classification accuracy (+2.6% over baseline)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3347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Calibri"/>
              </a:defRPr>
            </a:pPr>
            <a:r>
              <a:t>✓  CWRU accuracy: 97.95% (+5.2% gain from pre-training)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8094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Calibri"/>
              </a:defRPr>
            </a:pPr>
            <a:r>
              <a:t>✓  Strong cross-domain transfer (96-97% on held-out domains)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2841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Calibri"/>
              </a:defRPr>
            </a:pPr>
            <a:r>
              <a:t>✓  Unified architecture handles 4 PHM domains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758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Calibri"/>
              </a:defRPr>
            </a:pPr>
            <a:r>
              <a:t>✓  Channel-independent design supports 1 to 14 channels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029200" cy="4114800"/>
          </a:xfrm>
          <a:prstGeom prst="round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86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Calibri"/>
              </a:defRPr>
            </a:pPr>
            <a:r>
              <a:t>→  Improve RUL regression with refined head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3347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Calibri"/>
              </a:defRPr>
            </a:pPr>
            <a:r>
              <a:t>→  Add more PHM domains (Paderborn, IMS, etc.)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98094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Calibri"/>
              </a:defRPr>
            </a:pPr>
            <a:r>
              <a:t>→  Evaluate few-shot transfer with foundation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32841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Calibri"/>
              </a:defRPr>
            </a:pPr>
            <a:r>
              <a:t>→  Explore self-supervised pre-training 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6758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Calibri"/>
              </a:defRPr>
            </a:pPr>
            <a:r>
              <a:t>→  Benchmark against state-of-the-art per-dataset models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943600"/>
            <a:ext cx="10698480" cy="548640"/>
          </a:xfrm>
          <a:prstGeom prst="round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989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90E0EF"/>
                </a:solidFill>
                <a:latin typeface="Calibri"/>
              </a:defRPr>
            </a:pPr>
            <a:r>
              <a:t>A single pre-trained backbone outperforms per-dataset CNNs on classification — demonstrating the viability of foundation models for PHM.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